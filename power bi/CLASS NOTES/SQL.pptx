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65453-B7D0-4EC7-89AF-23B72A6D57B0}" v="14" dt="2024-07-06T13:26:37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Farook" userId="4038b48c786bb86b" providerId="LiveId" clId="{57965453-B7D0-4EC7-89AF-23B72A6D57B0}"/>
    <pc:docChg chg="custSel addSld delSld modSld sldOrd">
      <pc:chgData name="Abdul Farook" userId="4038b48c786bb86b" providerId="LiveId" clId="{57965453-B7D0-4EC7-89AF-23B72A6D57B0}" dt="2024-07-06T13:28:21.636" v="177" actId="207"/>
      <pc:docMkLst>
        <pc:docMk/>
      </pc:docMkLst>
      <pc:sldChg chg="modSp mod">
        <pc:chgData name="Abdul Farook" userId="4038b48c786bb86b" providerId="LiveId" clId="{57965453-B7D0-4EC7-89AF-23B72A6D57B0}" dt="2024-07-06T13:28:21.636" v="177" actId="207"/>
        <pc:sldMkLst>
          <pc:docMk/>
          <pc:sldMk cId="8307748" sldId="258"/>
        </pc:sldMkLst>
        <pc:spChg chg="mod">
          <ac:chgData name="Abdul Farook" userId="4038b48c786bb86b" providerId="LiveId" clId="{57965453-B7D0-4EC7-89AF-23B72A6D57B0}" dt="2024-07-06T13:28:21.636" v="177" actId="207"/>
          <ac:spMkLst>
            <pc:docMk/>
            <pc:sldMk cId="8307748" sldId="258"/>
            <ac:spMk id="3" creationId="{8A997DE3-B0F4-60F0-1937-E34758F43734}"/>
          </ac:spMkLst>
        </pc:spChg>
      </pc:sldChg>
      <pc:sldChg chg="addSp delSp modSp new mod">
        <pc:chgData name="Abdul Farook" userId="4038b48c786bb86b" providerId="LiveId" clId="{57965453-B7D0-4EC7-89AF-23B72A6D57B0}" dt="2024-07-06T13:27:14.439" v="172" actId="207"/>
        <pc:sldMkLst>
          <pc:docMk/>
          <pc:sldMk cId="628842867" sldId="262"/>
        </pc:sldMkLst>
        <pc:graphicFrameChg chg="add mod modGraphic">
          <ac:chgData name="Abdul Farook" userId="4038b48c786bb86b" providerId="LiveId" clId="{57965453-B7D0-4EC7-89AF-23B72A6D57B0}" dt="2024-07-06T13:27:14.439" v="172" actId="207"/>
          <ac:graphicFrameMkLst>
            <pc:docMk/>
            <pc:sldMk cId="628842867" sldId="262"/>
            <ac:graphicFrameMk id="4" creationId="{FBCAB8DE-FF64-BCA1-2AF9-EBFD24C47FBC}"/>
          </ac:graphicFrameMkLst>
        </pc:graphicFrameChg>
        <pc:picChg chg="add del">
          <ac:chgData name="Abdul Farook" userId="4038b48c786bb86b" providerId="LiveId" clId="{57965453-B7D0-4EC7-89AF-23B72A6D57B0}" dt="2024-07-06T13:10:43.817" v="96" actId="21"/>
          <ac:picMkLst>
            <pc:docMk/>
            <pc:sldMk cId="628842867" sldId="262"/>
            <ac:picMk id="3" creationId="{76CBCAE5-1B85-C927-D4DD-3CC5C7D40F2F}"/>
          </ac:picMkLst>
        </pc:picChg>
      </pc:sldChg>
      <pc:sldChg chg="modSp new del mod ord">
        <pc:chgData name="Abdul Farook" userId="4038b48c786bb86b" providerId="LiveId" clId="{57965453-B7D0-4EC7-89AF-23B72A6D57B0}" dt="2024-07-06T13:10:30.800" v="92" actId="2696"/>
        <pc:sldMkLst>
          <pc:docMk/>
          <pc:sldMk cId="2823170845" sldId="262"/>
        </pc:sldMkLst>
        <pc:spChg chg="mod">
          <ac:chgData name="Abdul Farook" userId="4038b48c786bb86b" providerId="LiveId" clId="{57965453-B7D0-4EC7-89AF-23B72A6D57B0}" dt="2024-07-06T13:01:08.721" v="13"/>
          <ac:spMkLst>
            <pc:docMk/>
            <pc:sldMk cId="2823170845" sldId="262"/>
            <ac:spMk id="2" creationId="{0AF941E1-8016-DA30-B9B3-CA3D11D098AC}"/>
          </ac:spMkLst>
        </pc:spChg>
        <pc:spChg chg="mod">
          <ac:chgData name="Abdul Farook" userId="4038b48c786bb86b" providerId="LiveId" clId="{57965453-B7D0-4EC7-89AF-23B72A6D57B0}" dt="2024-07-06T13:06:37.076" v="67"/>
          <ac:spMkLst>
            <pc:docMk/>
            <pc:sldMk cId="2823170845" sldId="262"/>
            <ac:spMk id="3" creationId="{DCEB169C-E8AD-B1F4-1735-09A38F3A8723}"/>
          </ac:spMkLst>
        </pc:spChg>
      </pc:sldChg>
      <pc:sldChg chg="new del">
        <pc:chgData name="Abdul Farook" userId="4038b48c786bb86b" providerId="LiveId" clId="{57965453-B7D0-4EC7-89AF-23B72A6D57B0}" dt="2024-07-06T12:59:46.334" v="1" actId="2696"/>
        <pc:sldMkLst>
          <pc:docMk/>
          <pc:sldMk cId="3220728122" sldId="262"/>
        </pc:sldMkLst>
      </pc:sldChg>
      <pc:sldChg chg="new del">
        <pc:chgData name="Abdul Farook" userId="4038b48c786bb86b" providerId="LiveId" clId="{57965453-B7D0-4EC7-89AF-23B72A6D57B0}" dt="2024-07-06T12:59:56.976" v="4" actId="2696"/>
        <pc:sldMkLst>
          <pc:docMk/>
          <pc:sldMk cId="3912207963" sldId="262"/>
        </pc:sldMkLst>
      </pc:sldChg>
      <pc:sldChg chg="addSp modSp new del mod ord">
        <pc:chgData name="Abdul Farook" userId="4038b48c786bb86b" providerId="LiveId" clId="{57965453-B7D0-4EC7-89AF-23B72A6D57B0}" dt="2024-07-06T13:10:33.523" v="93" actId="2696"/>
        <pc:sldMkLst>
          <pc:docMk/>
          <pc:sldMk cId="590218979" sldId="263"/>
        </pc:sldMkLst>
        <pc:spChg chg="add mod">
          <ac:chgData name="Abdul Farook" userId="4038b48c786bb86b" providerId="LiveId" clId="{57965453-B7D0-4EC7-89AF-23B72A6D57B0}" dt="2024-07-06T13:09:45.085" v="91" actId="20577"/>
          <ac:spMkLst>
            <pc:docMk/>
            <pc:sldMk cId="590218979" sldId="263"/>
            <ac:spMk id="3" creationId="{7785AE4B-3F80-57DF-F4F0-B377BDCE31EE}"/>
          </ac:spMkLst>
        </pc:spChg>
      </pc:sldChg>
      <pc:sldChg chg="addSp modSp new mod">
        <pc:chgData name="Abdul Farook" userId="4038b48c786bb86b" providerId="LiveId" clId="{57965453-B7D0-4EC7-89AF-23B72A6D57B0}" dt="2024-07-06T13:27:39.933" v="176" actId="120"/>
        <pc:sldMkLst>
          <pc:docMk/>
          <pc:sldMk cId="1321680970" sldId="263"/>
        </pc:sldMkLst>
        <pc:graphicFrameChg chg="add mod modGraphic">
          <ac:chgData name="Abdul Farook" userId="4038b48c786bb86b" providerId="LiveId" clId="{57965453-B7D0-4EC7-89AF-23B72A6D57B0}" dt="2024-07-06T13:27:39.933" v="176" actId="120"/>
          <ac:graphicFrameMkLst>
            <pc:docMk/>
            <pc:sldMk cId="1321680970" sldId="263"/>
            <ac:graphicFrameMk id="2" creationId="{F313F021-F471-7E31-F7EB-EFB95E8E8F42}"/>
          </ac:graphicFrameMkLst>
        </pc:graphicFrameChg>
        <pc:graphicFrameChg chg="add mod modGraphic">
          <ac:chgData name="Abdul Farook" userId="4038b48c786bb86b" providerId="LiveId" clId="{57965453-B7D0-4EC7-89AF-23B72A6D57B0}" dt="2024-07-06T13:27:35.513" v="175" actId="120"/>
          <ac:graphicFrameMkLst>
            <pc:docMk/>
            <pc:sldMk cId="1321680970" sldId="263"/>
            <ac:graphicFrameMk id="3" creationId="{2B8F9F1E-3941-4133-8877-9E4396A97EBE}"/>
          </ac:graphicFrameMkLst>
        </pc:graphicFrameChg>
      </pc:sldChg>
      <pc:sldChg chg="new del">
        <pc:chgData name="Abdul Farook" userId="4038b48c786bb86b" providerId="LiveId" clId="{57965453-B7D0-4EC7-89AF-23B72A6D57B0}" dt="2024-07-06T12:59:59.718" v="5" actId="2696"/>
        <pc:sldMkLst>
          <pc:docMk/>
          <pc:sldMk cId="1814926970" sldId="263"/>
        </pc:sldMkLst>
      </pc:sldChg>
      <pc:sldChg chg="addSp modSp new mod">
        <pc:chgData name="Abdul Farook" userId="4038b48c786bb86b" providerId="LiveId" clId="{57965453-B7D0-4EC7-89AF-23B72A6D57B0}" dt="2024-07-06T13:27:23.756" v="173" actId="120"/>
        <pc:sldMkLst>
          <pc:docMk/>
          <pc:sldMk cId="3331172716" sldId="264"/>
        </pc:sldMkLst>
        <pc:graphicFrameChg chg="add mod modGraphic">
          <ac:chgData name="Abdul Farook" userId="4038b48c786bb86b" providerId="LiveId" clId="{57965453-B7D0-4EC7-89AF-23B72A6D57B0}" dt="2024-07-06T13:27:23.756" v="173" actId="120"/>
          <ac:graphicFrameMkLst>
            <pc:docMk/>
            <pc:sldMk cId="3331172716" sldId="264"/>
            <ac:graphicFrameMk id="2" creationId="{158A90BC-E3AB-9555-2F21-FDBA3783C59D}"/>
          </ac:graphicFrameMkLst>
        </pc:graphicFrameChg>
      </pc:sldChg>
      <pc:sldChg chg="addSp modSp new mod">
        <pc:chgData name="Abdul Farook" userId="4038b48c786bb86b" providerId="LiveId" clId="{57965453-B7D0-4EC7-89AF-23B72A6D57B0}" dt="2024-07-06T13:27:30.120" v="174" actId="120"/>
        <pc:sldMkLst>
          <pc:docMk/>
          <pc:sldMk cId="2019716811" sldId="265"/>
        </pc:sldMkLst>
        <pc:graphicFrameChg chg="add mod modGraphic">
          <ac:chgData name="Abdul Farook" userId="4038b48c786bb86b" providerId="LiveId" clId="{57965453-B7D0-4EC7-89AF-23B72A6D57B0}" dt="2024-07-06T13:27:30.120" v="174" actId="120"/>
          <ac:graphicFrameMkLst>
            <pc:docMk/>
            <pc:sldMk cId="2019716811" sldId="265"/>
            <ac:graphicFrameMk id="2" creationId="{415861B3-1FD7-D465-6D4C-D09224A2C8A8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6T04:19:52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45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03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05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6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37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256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28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6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004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18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410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80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313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487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419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9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52F804-830F-4340-AD21-2C259DE126BE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5CDB636-818F-434B-83A4-27E23804D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ql-update-statement" TargetMode="External"/><Relationship Id="rId2" Type="http://schemas.openxmlformats.org/officeDocument/2006/relationships/hyperlink" Target="https://www.geeksforgeeks.org/sql-insert-statemen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eeksforgeeks.org/sql-lock-table" TargetMode="External"/><Relationship Id="rId4" Type="http://schemas.openxmlformats.org/officeDocument/2006/relationships/hyperlink" Target="https://www.geeksforgeeks.org/sql-delete-statemen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ql-transactions/#:~:text=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ysql-grant-revoke-privileges" TargetMode="External"/><Relationship Id="rId2" Type="http://schemas.openxmlformats.org/officeDocument/2006/relationships/hyperlink" Target="https://www.geeksforgeeks.org/sql-select-claus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eeksforgeeks.org/difference-between-grant-and-revok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3125-D808-FAC7-2848-4F26B5D0D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A7AF4-A93B-4194-97DB-5A85A1C39B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arial" panose="020B0604020202020204" pitchFamily="34" charset="0"/>
              </a:rPr>
              <a:t>Structured Query Language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2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AE06-931B-73F3-2E85-43107A48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7DE3-B0F4-60F0-1937-E34758F4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SQL is a standard language for </a:t>
            </a:r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</a:rPr>
              <a:t>storing, manipulating and retrieving data in databases</a:t>
            </a:r>
            <a:r>
              <a:rPr lang="en-IN" dirty="0">
                <a:latin typeface="Arial Narrow" panose="020B0606020202030204" pitchFamily="34" charset="0"/>
              </a:rPr>
              <a:t>.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IN" dirty="0">
                <a:latin typeface="Arial Narrow" panose="020B0606020202030204" pitchFamily="34" charset="0"/>
              </a:rPr>
              <a:t>Popular Database: MySQL, SQL Server, MS Access, Oracle, Sybase, Postgres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9486-358C-D790-04D6-5E73E2C9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Database?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1DEAB-53FF-0771-F412-AB1BA6A18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is an organized </a:t>
            </a:r>
            <a:r>
              <a:rPr lang="en-US" dirty="0">
                <a:solidFill>
                  <a:srgbClr val="FF0000"/>
                </a:solidFill>
              </a:rPr>
              <a:t>collection of structured information or data</a:t>
            </a:r>
            <a:r>
              <a:rPr lang="en-US" dirty="0"/>
              <a:t>, typically stored electronically in a computer system. </a:t>
            </a:r>
          </a:p>
          <a:p>
            <a:r>
              <a:rPr lang="en-US" dirty="0"/>
              <a:t>A database is usually controlled by a database management system (DBMS)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59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4587-4625-64EF-49A1-4769F0B5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Database Management System </a:t>
            </a:r>
            <a:r>
              <a:rPr lang="en-US" sz="2400" dirty="0"/>
              <a:t>(DBMS) is a software that is used to define, create, and maintain a database and provides controlled access to the data.</a:t>
            </a:r>
            <a:endParaRPr lang="en-IN" sz="2400" dirty="0"/>
          </a:p>
        </p:txBody>
      </p:sp>
      <p:pic>
        <p:nvPicPr>
          <p:cNvPr id="2050" name="Picture 2" descr="DBMS vs RDBMS | PPT">
            <a:extLst>
              <a:ext uri="{FF2B5EF4-FFF2-40B4-BE49-F238E27FC236}">
                <a16:creationId xmlns:a16="http://schemas.microsoft.com/office/drawing/2014/main" id="{F881EF5D-03DA-ECA5-27AE-85BC8F9C2B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248"/>
          <a:stretch/>
        </p:blipFill>
        <p:spPr bwMode="auto">
          <a:xfrm>
            <a:off x="1295402" y="2604455"/>
            <a:ext cx="9601196" cy="346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5FB647-D973-B7D3-8CCF-4C6FAB1E0DC1}"/>
                  </a:ext>
                </a:extLst>
              </p14:cNvPr>
              <p14:cNvContentPartPr/>
              <p14:nvPr/>
            </p14:nvContentPartPr>
            <p14:xfrm>
              <a:off x="5663137" y="289042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5FB647-D973-B7D3-8CCF-4C6FAB1E0D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7017" y="288430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36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5 Key Concepts Of RDBMS &amp; Major Differences From DBMS">
            <a:extLst>
              <a:ext uri="{FF2B5EF4-FFF2-40B4-BE49-F238E27FC236}">
                <a16:creationId xmlns:a16="http://schemas.microsoft.com/office/drawing/2014/main" id="{E2661871-5128-F106-C27B-46BDC7F54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" t="574" r="-110" b="8783"/>
          <a:stretch/>
        </p:blipFill>
        <p:spPr bwMode="auto">
          <a:xfrm>
            <a:off x="1145263" y="963561"/>
            <a:ext cx="9699717" cy="50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90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QL Commands: DDL, DML, DCL, TCL, DQL - javatpoint">
            <a:extLst>
              <a:ext uri="{FF2B5EF4-FFF2-40B4-BE49-F238E27FC236}">
                <a16:creationId xmlns:a16="http://schemas.microsoft.com/office/drawing/2014/main" id="{65D5746E-D2FF-072E-003E-BA9D5BDC4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77" y="1052052"/>
            <a:ext cx="9271820" cy="497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1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CAB8DE-FF64-BCA1-2AF9-EBFD24C47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889766"/>
              </p:ext>
            </p:extLst>
          </p:nvPr>
        </p:nvGraphicFramePr>
        <p:xfrm>
          <a:off x="875070" y="719665"/>
          <a:ext cx="10471356" cy="54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3020382166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1696768634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3779229371"/>
                    </a:ext>
                  </a:extLst>
                </a:gridCol>
              </a:tblGrid>
              <a:tr h="380714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SYNTAX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839595"/>
                  </a:ext>
                </a:extLst>
              </a:tr>
              <a:tr h="993669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Create database or its objects (table, index, function, views, store procedure, and triggers)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CREATE TABLE </a:t>
                      </a:r>
                      <a:r>
                        <a:rPr lang="en-US" dirty="0" err="1"/>
                        <a:t>table_name</a:t>
                      </a:r>
                      <a:r>
                        <a:rPr lang="en-US" dirty="0"/>
                        <a:t> (column1 </a:t>
                      </a:r>
                      <a:r>
                        <a:rPr lang="en-US" dirty="0" err="1"/>
                        <a:t>data_type</a:t>
                      </a:r>
                      <a:r>
                        <a:rPr lang="en-US" dirty="0"/>
                        <a:t>, column2 </a:t>
                      </a:r>
                      <a:r>
                        <a:rPr lang="en-US" dirty="0" err="1"/>
                        <a:t>data_type</a:t>
                      </a:r>
                      <a:r>
                        <a:rPr lang="en-US" dirty="0"/>
                        <a:t>, 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655339"/>
                  </a:ext>
                </a:extLst>
              </a:tr>
              <a:tr h="53505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FF0000"/>
                          </a:solidFill>
                        </a:rPr>
                        <a:t>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Delete objects from the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DROP TABLE table_name;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967606"/>
                  </a:ext>
                </a:extLst>
              </a:tr>
              <a:tr h="99366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FF0000"/>
                          </a:solidFill>
                        </a:rPr>
                        <a:t>ALTER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Alter the structure of the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ALTER TABLE table_name ADD COLUMN column_name data_type;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98079"/>
                  </a:ext>
                </a:extLst>
              </a:tr>
              <a:tr h="99366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FF0000"/>
                          </a:solidFill>
                        </a:rPr>
                        <a:t>TRUNCATE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Remove all records from a table, including all spaces allocated for the records are removed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/>
                        <a:t>TRUNCATE TABLE table_name;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617677"/>
                  </a:ext>
                </a:extLst>
              </a:tr>
              <a:tr h="764361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FF0000"/>
                          </a:solidFill>
                        </a:rPr>
                        <a:t>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Add comments to the data dictionary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COMMENT '</a:t>
                      </a:r>
                      <a:r>
                        <a:rPr lang="en-IN" dirty="0" err="1"/>
                        <a:t>comment_text</a:t>
                      </a:r>
                      <a:r>
                        <a:rPr lang="en-IN" dirty="0"/>
                        <a:t>' ON TABLE </a:t>
                      </a:r>
                      <a:r>
                        <a:rPr lang="en-IN" dirty="0" err="1"/>
                        <a:t>table_name</a:t>
                      </a:r>
                      <a:r>
                        <a:rPr lang="en-IN" dirty="0"/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259412"/>
                  </a:ext>
                </a:extLst>
              </a:tr>
              <a:tr h="76436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RENAME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Rename an object existing in the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RENAME TABLE </a:t>
                      </a:r>
                      <a:r>
                        <a:rPr lang="en-US" dirty="0" err="1"/>
                        <a:t>old_table_name</a:t>
                      </a:r>
                      <a:r>
                        <a:rPr lang="en-US" dirty="0"/>
                        <a:t> TO </a:t>
                      </a:r>
                      <a:r>
                        <a:rPr lang="en-US" dirty="0" err="1"/>
                        <a:t>new_table_name</a:t>
                      </a:r>
                      <a:r>
                        <a:rPr lang="en-US" dirty="0"/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57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42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8A90BC-E3AB-9555-2F21-FDBA3783C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06870"/>
              </p:ext>
            </p:extLst>
          </p:nvPr>
        </p:nvGraphicFramePr>
        <p:xfrm>
          <a:off x="943897" y="719665"/>
          <a:ext cx="10353366" cy="5462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122">
                  <a:extLst>
                    <a:ext uri="{9D8B030D-6E8A-4147-A177-3AD203B41FA5}">
                      <a16:colId xmlns:a16="http://schemas.microsoft.com/office/drawing/2014/main" val="581419060"/>
                    </a:ext>
                  </a:extLst>
                </a:gridCol>
                <a:gridCol w="3451122">
                  <a:extLst>
                    <a:ext uri="{9D8B030D-6E8A-4147-A177-3AD203B41FA5}">
                      <a16:colId xmlns:a16="http://schemas.microsoft.com/office/drawing/2014/main" val="3720772129"/>
                    </a:ext>
                  </a:extLst>
                </a:gridCol>
                <a:gridCol w="3451122">
                  <a:extLst>
                    <a:ext uri="{9D8B030D-6E8A-4147-A177-3AD203B41FA5}">
                      <a16:colId xmlns:a16="http://schemas.microsoft.com/office/drawing/2014/main" val="1773046419"/>
                    </a:ext>
                  </a:extLst>
                </a:gridCol>
              </a:tblGrid>
              <a:tr h="588077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 dirty="0">
                          <a:effectLst/>
                        </a:rPr>
                        <a:t>COMMAND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1" dirty="0">
                          <a:effectLst/>
                        </a:rPr>
                        <a:t>SYNTAX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24176122"/>
                  </a:ext>
                </a:extLst>
              </a:tr>
              <a:tr h="942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INSERT</a:t>
                      </a:r>
                      <a:endParaRPr lang="en-IN" sz="16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</a:rPr>
                        <a:t>Insert data into a table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INSERT INTO </a:t>
                      </a:r>
                      <a:r>
                        <a:rPr lang="en-US" sz="1600" b="0" dirty="0" err="1">
                          <a:effectLst/>
                        </a:rPr>
                        <a:t>table_name</a:t>
                      </a:r>
                      <a:r>
                        <a:rPr lang="en-US" sz="1600" b="0" dirty="0">
                          <a:effectLst/>
                        </a:rPr>
                        <a:t> (column1, column2, ...) VALUES (value1, value2, ...);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512086559"/>
                  </a:ext>
                </a:extLst>
              </a:tr>
              <a:tr h="942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FF0000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UPDATE</a:t>
                      </a:r>
                      <a:endParaRPr lang="en-IN" sz="16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</a:rPr>
                        <a:t>Update existing data within a table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UPDATE </a:t>
                      </a:r>
                      <a:r>
                        <a:rPr lang="en-US" sz="1600" b="0" dirty="0" err="1">
                          <a:effectLst/>
                        </a:rPr>
                        <a:t>table_name</a:t>
                      </a:r>
                      <a:r>
                        <a:rPr lang="en-US" sz="1600" b="0" dirty="0">
                          <a:effectLst/>
                        </a:rPr>
                        <a:t> SET column1 = value1, column2 = value2 WHERE condition;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595487339"/>
                  </a:ext>
                </a:extLst>
              </a:tr>
              <a:tr h="6896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FF0000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DELETE</a:t>
                      </a:r>
                      <a:endParaRPr lang="en-IN" sz="16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</a:rPr>
                        <a:t>Delete records from a database table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DELETE FROM </a:t>
                      </a:r>
                      <a:r>
                        <a:rPr lang="en-US" sz="1600" b="0" dirty="0" err="1">
                          <a:effectLst/>
                        </a:rPr>
                        <a:t>table_name</a:t>
                      </a:r>
                      <a:r>
                        <a:rPr lang="en-US" sz="1600" b="0" dirty="0">
                          <a:effectLst/>
                        </a:rPr>
                        <a:t> WHERE condition;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879322302"/>
                  </a:ext>
                </a:extLst>
              </a:tr>
              <a:tr h="6896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u="sng" dirty="0">
                          <a:solidFill>
                            <a:srgbClr val="FF0000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LOCK</a:t>
                      </a:r>
                      <a:endParaRPr lang="en-IN" sz="16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Table control concurrency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LOCK TABLE </a:t>
                      </a:r>
                      <a:r>
                        <a:rPr lang="en-US" sz="1600" b="0" dirty="0" err="1">
                          <a:effectLst/>
                        </a:rPr>
                        <a:t>table_name</a:t>
                      </a:r>
                      <a:r>
                        <a:rPr lang="en-US" sz="1600" b="0" dirty="0">
                          <a:effectLst/>
                        </a:rPr>
                        <a:t> IN </a:t>
                      </a:r>
                      <a:r>
                        <a:rPr lang="en-US" sz="1600" b="0" dirty="0" err="1">
                          <a:effectLst/>
                        </a:rPr>
                        <a:t>lock_mode</a:t>
                      </a:r>
                      <a:r>
                        <a:rPr lang="en-US" sz="1600" b="0" dirty="0">
                          <a:effectLst/>
                        </a:rPr>
                        <a:t>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557615812"/>
                  </a:ext>
                </a:extLst>
              </a:tr>
              <a:tr h="6404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CALL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</a:rPr>
                        <a:t>Call a PL/SQL or JAVA subprogram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dirty="0">
                          <a:effectLst/>
                        </a:rPr>
                        <a:t>CALL </a:t>
                      </a:r>
                      <a:r>
                        <a:rPr lang="en-IN" sz="1600" b="0" dirty="0" err="1">
                          <a:effectLst/>
                        </a:rPr>
                        <a:t>procedure_name</a:t>
                      </a:r>
                      <a:r>
                        <a:rPr lang="en-IN" sz="1600" b="0" dirty="0">
                          <a:effectLst/>
                        </a:rPr>
                        <a:t>(arguments);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348621580"/>
                  </a:ext>
                </a:extLst>
              </a:tr>
              <a:tr h="942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EXPLAIN PLAN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</a:rPr>
                        <a:t>Describe the access path to data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EXPLAIN PLAN FOR SELECT * FROM </a:t>
                      </a:r>
                      <a:r>
                        <a:rPr lang="en-US" sz="1600" b="0" dirty="0" err="1">
                          <a:effectLst/>
                        </a:rPr>
                        <a:t>table_name</a:t>
                      </a:r>
                      <a:r>
                        <a:rPr lang="en-US" sz="1600" b="0" dirty="0">
                          <a:effectLst/>
                        </a:rPr>
                        <a:t>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509019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17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5861B3-1FD7-D465-6D4C-D09224A2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24458"/>
              </p:ext>
            </p:extLst>
          </p:nvPr>
        </p:nvGraphicFramePr>
        <p:xfrm>
          <a:off x="855406" y="719665"/>
          <a:ext cx="10422195" cy="5346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065">
                  <a:extLst>
                    <a:ext uri="{9D8B030D-6E8A-4147-A177-3AD203B41FA5}">
                      <a16:colId xmlns:a16="http://schemas.microsoft.com/office/drawing/2014/main" val="1843557358"/>
                    </a:ext>
                  </a:extLst>
                </a:gridCol>
                <a:gridCol w="3474065">
                  <a:extLst>
                    <a:ext uri="{9D8B030D-6E8A-4147-A177-3AD203B41FA5}">
                      <a16:colId xmlns:a16="http://schemas.microsoft.com/office/drawing/2014/main" val="2827118528"/>
                    </a:ext>
                  </a:extLst>
                </a:gridCol>
                <a:gridCol w="3474065">
                  <a:extLst>
                    <a:ext uri="{9D8B030D-6E8A-4147-A177-3AD203B41FA5}">
                      <a16:colId xmlns:a16="http://schemas.microsoft.com/office/drawing/2014/main" val="982407745"/>
                    </a:ext>
                  </a:extLst>
                </a:gridCol>
              </a:tblGrid>
              <a:tr h="721477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1" dirty="0">
                          <a:effectLst/>
                        </a:rPr>
                        <a:t>COMMAND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1" dirty="0">
                          <a:effectLst/>
                        </a:rPr>
                        <a:t>SYNTAX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8505901"/>
                  </a:ext>
                </a:extLst>
              </a:tr>
              <a:tr h="11563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BEGIN TRANSACTION</a:t>
                      </a:r>
                      <a:endParaRPr lang="en-IN" sz="20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>
                          <a:effectLst/>
                        </a:rPr>
                        <a:t>Starts a new transaction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BEGIN TRANSACTION [</a:t>
                      </a:r>
                      <a:r>
                        <a:rPr lang="en-IN" sz="2000" b="0" dirty="0" err="1">
                          <a:effectLst/>
                        </a:rPr>
                        <a:t>transaction_name</a:t>
                      </a:r>
                      <a:r>
                        <a:rPr lang="en-IN" sz="2000" b="0" dirty="0">
                          <a:effectLst/>
                        </a:rPr>
                        <a:t>];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857074894"/>
                  </a:ext>
                </a:extLst>
              </a:tr>
              <a:tr h="11563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COMMIT</a:t>
                      </a:r>
                      <a:endParaRPr lang="en-IN" sz="20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>
                          <a:effectLst/>
                        </a:rPr>
                        <a:t>Saves all changes made during the transaction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>
                          <a:effectLst/>
                        </a:rPr>
                        <a:t>COMMIT;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3659176076"/>
                  </a:ext>
                </a:extLst>
              </a:tr>
              <a:tr h="11563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ROLLBACK</a:t>
                      </a:r>
                      <a:endParaRPr lang="en-IN" sz="20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>
                          <a:effectLst/>
                        </a:rPr>
                        <a:t>Undoes all changes made during the transaction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>
                          <a:effectLst/>
                        </a:rPr>
                        <a:t>ROLLBACK;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197243084"/>
                  </a:ext>
                </a:extLst>
              </a:tr>
              <a:tr h="11563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SAVEPOINT</a:t>
                      </a:r>
                      <a:endParaRPr lang="en-IN" sz="20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dirty="0">
                          <a:effectLst/>
                        </a:rPr>
                        <a:t>Creates a </a:t>
                      </a:r>
                      <a:r>
                        <a:rPr lang="en-US" sz="2000" b="0" dirty="0" err="1">
                          <a:effectLst/>
                        </a:rPr>
                        <a:t>savepoint</a:t>
                      </a:r>
                      <a:r>
                        <a:rPr lang="en-US" sz="2000" b="0" dirty="0">
                          <a:effectLst/>
                        </a:rPr>
                        <a:t> within the current transaction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dirty="0">
                          <a:effectLst/>
                        </a:rPr>
                        <a:t>SAVEPOINT </a:t>
                      </a:r>
                      <a:r>
                        <a:rPr lang="en-IN" sz="2000" b="0" dirty="0" err="1">
                          <a:effectLst/>
                        </a:rPr>
                        <a:t>savepoint_name</a:t>
                      </a:r>
                      <a:r>
                        <a:rPr lang="en-IN" sz="2000" b="0" dirty="0">
                          <a:effectLst/>
                        </a:rPr>
                        <a:t>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807614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71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13F021-F471-7E31-F7EB-EFB95E8E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744662"/>
              </p:ext>
            </p:extLst>
          </p:nvPr>
        </p:nvGraphicFramePr>
        <p:xfrm>
          <a:off x="899650" y="4259278"/>
          <a:ext cx="103926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08">
                  <a:extLst>
                    <a:ext uri="{9D8B030D-6E8A-4147-A177-3AD203B41FA5}">
                      <a16:colId xmlns:a16="http://schemas.microsoft.com/office/drawing/2014/main" val="2516070323"/>
                    </a:ext>
                  </a:extLst>
                </a:gridCol>
                <a:gridCol w="2920180">
                  <a:extLst>
                    <a:ext uri="{9D8B030D-6E8A-4147-A177-3AD203B41FA5}">
                      <a16:colId xmlns:a16="http://schemas.microsoft.com/office/drawing/2014/main" val="3370672779"/>
                    </a:ext>
                  </a:extLst>
                </a:gridCol>
                <a:gridCol w="4483511">
                  <a:extLst>
                    <a:ext uri="{9D8B030D-6E8A-4147-A177-3AD203B41FA5}">
                      <a16:colId xmlns:a16="http://schemas.microsoft.com/office/drawing/2014/main" val="527068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COMMAND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400" b="1" dirty="0">
                          <a:effectLst/>
                        </a:rPr>
                        <a:t>SYNTAX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41017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2400" b="1" u="sng" dirty="0">
                          <a:solidFill>
                            <a:srgbClr val="FF0000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SELECT</a:t>
                      </a:r>
                      <a:endParaRPr lang="en-IN" sz="24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0" dirty="0">
                          <a:effectLst/>
                        </a:rPr>
                        <a:t>It is used to retrieve data from the database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0" dirty="0">
                          <a:effectLst/>
                        </a:rPr>
                        <a:t>SELECT column1, column2, ...FROM </a:t>
                      </a:r>
                      <a:r>
                        <a:rPr lang="en-US" sz="2400" b="0" dirty="0" err="1">
                          <a:effectLst/>
                        </a:rPr>
                        <a:t>table_name</a:t>
                      </a:r>
                      <a:r>
                        <a:rPr lang="en-US" sz="2400" b="0" dirty="0">
                          <a:effectLst/>
                        </a:rPr>
                        <a:t> WHERE condition;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94268224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8F9F1E-3941-4133-8877-9E4396A97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997519"/>
              </p:ext>
            </p:extLst>
          </p:nvPr>
        </p:nvGraphicFramePr>
        <p:xfrm>
          <a:off x="983225" y="719665"/>
          <a:ext cx="10087896" cy="3218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2632">
                  <a:extLst>
                    <a:ext uri="{9D8B030D-6E8A-4147-A177-3AD203B41FA5}">
                      <a16:colId xmlns:a16="http://schemas.microsoft.com/office/drawing/2014/main" val="125846069"/>
                    </a:ext>
                  </a:extLst>
                </a:gridCol>
                <a:gridCol w="3362632">
                  <a:extLst>
                    <a:ext uri="{9D8B030D-6E8A-4147-A177-3AD203B41FA5}">
                      <a16:colId xmlns:a16="http://schemas.microsoft.com/office/drawing/2014/main" val="3600790274"/>
                    </a:ext>
                  </a:extLst>
                </a:gridCol>
                <a:gridCol w="3362632">
                  <a:extLst>
                    <a:ext uri="{9D8B030D-6E8A-4147-A177-3AD203B41FA5}">
                      <a16:colId xmlns:a16="http://schemas.microsoft.com/office/drawing/2014/main" val="1575583888"/>
                    </a:ext>
                  </a:extLst>
                </a:gridCol>
              </a:tblGrid>
              <a:tr h="5971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b="1" dirty="0">
                          <a:effectLst/>
                        </a:rPr>
                        <a:t>COMMAND</a:t>
                      </a:r>
                    </a:p>
                  </a:txBody>
                  <a:tcPr marL="38100" marR="381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b="1" dirty="0">
                          <a:effectLst/>
                        </a:rPr>
                        <a:t>SYNTAX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18480431"/>
                  </a:ext>
                </a:extLst>
              </a:tr>
              <a:tr h="12638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u="sng" dirty="0">
                          <a:solidFill>
                            <a:srgbClr val="FF0000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GRANT</a:t>
                      </a:r>
                      <a:endParaRPr lang="en-IN" sz="18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</a:rPr>
                        <a:t>Assigns new privileges to a user account, allowing access to specific database objects, actions, or functions.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GRANT </a:t>
                      </a:r>
                      <a:r>
                        <a:rPr lang="en-US" sz="1800" b="0" dirty="0" err="1">
                          <a:effectLst/>
                        </a:rPr>
                        <a:t>privilege_type</a:t>
                      </a:r>
                      <a:r>
                        <a:rPr lang="en-US" sz="1800" b="0" dirty="0">
                          <a:effectLst/>
                        </a:rPr>
                        <a:t> [(</a:t>
                      </a:r>
                      <a:r>
                        <a:rPr lang="en-US" sz="1800" b="0" dirty="0" err="1">
                          <a:effectLst/>
                        </a:rPr>
                        <a:t>column_list</a:t>
                      </a:r>
                      <a:r>
                        <a:rPr lang="en-US" sz="1800" b="0" dirty="0">
                          <a:effectLst/>
                        </a:rPr>
                        <a:t>)] ON [</a:t>
                      </a:r>
                      <a:r>
                        <a:rPr lang="en-US" sz="1800" b="0" dirty="0" err="1">
                          <a:effectLst/>
                        </a:rPr>
                        <a:t>object_type</a:t>
                      </a:r>
                      <a:r>
                        <a:rPr lang="en-US" sz="1800" b="0" dirty="0">
                          <a:effectLst/>
                        </a:rPr>
                        <a:t>] </a:t>
                      </a:r>
                      <a:r>
                        <a:rPr lang="en-US" sz="1800" b="0" dirty="0" err="1">
                          <a:effectLst/>
                        </a:rPr>
                        <a:t>object_name</a:t>
                      </a:r>
                      <a:r>
                        <a:rPr lang="en-US" sz="1800" b="0" dirty="0">
                          <a:effectLst/>
                        </a:rPr>
                        <a:t> TO user [WITH GRANT OPTION];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2589401227"/>
                  </a:ext>
                </a:extLst>
              </a:tr>
              <a:tr h="12638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u="sng" dirty="0">
                          <a:solidFill>
                            <a:srgbClr val="FF0000"/>
                          </a:solidFill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REVOKE</a:t>
                      </a:r>
                      <a:endParaRPr lang="en-IN" sz="1800" b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</a:rPr>
                        <a:t>Removes previously granted privileges from a user account, taking away their access to certain database objects or actions.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</a:rPr>
                        <a:t>REVOKE [GRANT OPTION FOR] </a:t>
                      </a:r>
                      <a:r>
                        <a:rPr lang="en-US" sz="1800" b="0" dirty="0" err="1">
                          <a:effectLst/>
                        </a:rPr>
                        <a:t>privilege_type</a:t>
                      </a:r>
                      <a:r>
                        <a:rPr lang="en-US" sz="1800" b="0" dirty="0">
                          <a:effectLst/>
                        </a:rPr>
                        <a:t> [(</a:t>
                      </a:r>
                      <a:r>
                        <a:rPr lang="en-US" sz="1800" b="0" dirty="0" err="1">
                          <a:effectLst/>
                        </a:rPr>
                        <a:t>column_list</a:t>
                      </a:r>
                      <a:r>
                        <a:rPr lang="en-US" sz="1800" b="0" dirty="0">
                          <a:effectLst/>
                        </a:rPr>
                        <a:t>)] ON [</a:t>
                      </a:r>
                      <a:r>
                        <a:rPr lang="en-US" sz="1800" b="0" dirty="0" err="1">
                          <a:effectLst/>
                        </a:rPr>
                        <a:t>object_type</a:t>
                      </a:r>
                      <a:r>
                        <a:rPr lang="en-US" sz="1800" b="0" dirty="0">
                          <a:effectLst/>
                        </a:rPr>
                        <a:t>] </a:t>
                      </a:r>
                      <a:r>
                        <a:rPr lang="en-US" sz="1800" b="0" dirty="0" err="1">
                          <a:effectLst/>
                        </a:rPr>
                        <a:t>object_name</a:t>
                      </a:r>
                      <a:r>
                        <a:rPr lang="en-US" sz="1800" b="0" dirty="0">
                          <a:effectLst/>
                        </a:rPr>
                        <a:t> FROM user [CASCADE];</a:t>
                      </a:r>
                    </a:p>
                  </a:txBody>
                  <a:tcPr marL="76200" marR="76200" marT="106680" marB="106680" anchor="ctr"/>
                </a:tc>
                <a:extLst>
                  <a:ext uri="{0D108BD9-81ED-4DB2-BD59-A6C34878D82A}">
                    <a16:rowId xmlns:a16="http://schemas.microsoft.com/office/drawing/2014/main" val="148196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6809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</TotalTime>
  <Words>523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</vt:lpstr>
      <vt:lpstr>Arial Narrow</vt:lpstr>
      <vt:lpstr>Garamond</vt:lpstr>
      <vt:lpstr>Organic</vt:lpstr>
      <vt:lpstr>SQL</vt:lpstr>
      <vt:lpstr>SQL</vt:lpstr>
      <vt:lpstr>Define Database?</vt:lpstr>
      <vt:lpstr>Database Management System (DBMS) is a software that is used to define, create, and maintain a database and provides controlled access to the data.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Farook</dc:creator>
  <cp:lastModifiedBy>Abdul Farook</cp:lastModifiedBy>
  <cp:revision>1</cp:revision>
  <dcterms:created xsi:type="dcterms:W3CDTF">2024-07-06T03:58:07Z</dcterms:created>
  <dcterms:modified xsi:type="dcterms:W3CDTF">2024-07-06T13:28:32Z</dcterms:modified>
</cp:coreProperties>
</file>